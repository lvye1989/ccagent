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开场：本报告用 10 页回答三个问题——Agent 走到哪一步了、技术栈的胜负手在哪、企业该从哪里切入。核心结论一句话：竞争点已从"回答质量"转移到"任务闭环的交付能力"。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四条判断可概括为：价值转移、能力上限转移、生态协议收敛、竞争落到生产化。记忆口诀：价值 → 上下文 → 协议 → 可靠性。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三个阶段的关键区别是"能力单元"不断变大：回答 → 动作 → 任务 → 目标；同时人工介入粒度不断变粗：逐步确认 → 关键节点确认 → 只定目标。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分级不是为了炫技，而是为了对齐期望与风险。建议企业明确自己当前的目标级别：多数场景 L3 已是可交付上限，L4 仍属前沿探索。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五层栈自上而下依次是体验层、决策层、上限层、触手层、底线层。选型时优先补齐上下文与治理两层，它们决定了能走多远和敢不敢上生产。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本节要点：把上下文当作产品，而不是字符串拼接。占比为示意，用于说明"注意力预算"应当被显式分配，而不是让窗口自然填满。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生态收敛的两条主线：MCP 统一工具接入，A2A 类协议统一智能体互操作。对企业的直接含义是——用协议化接入解耦模型与工具，避免供应商锁定。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多智能体的价值来自并行与专精，代价是同步与成本。真正拉开差距的是右侧四问：可靠性、可观测、可治理、可评测。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矩阵的用法：先做右上角的四个场景之一，用闭环率证明价值；左下角的低价值场景直接采购成品即可，不必自研。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收尾：三大挑战（安全、成本、可靠性）与三步行动（选场景、建基建、解耦依赖）。一句话结束——能力已不是瓶颈，信任与成本才是。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32520" y="1188720"/>
            <a:ext cx="4480560" cy="4480560"/>
          </a:xfrm>
          <a:prstGeom prst="ellipse">
            <a:avLst/>
          </a:prstGeom>
          <a:noFill/>
          <a:ln w="9525">
            <a:solidFill>
              <a:srgbClr val="1628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1783080"/>
            <a:ext cx="3291840" cy="3291840"/>
          </a:xfrm>
          <a:prstGeom prst="ellipse">
            <a:avLst/>
          </a:prstGeom>
          <a:noFill/>
          <a:ln w="9525">
            <a:solidFill>
              <a:srgbClr val="1B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98380" y="2354580"/>
            <a:ext cx="2148840" cy="2148840"/>
          </a:xfrm>
          <a:prstGeom prst="ellipse">
            <a:avLst/>
          </a:prstGeom>
          <a:noFill/>
          <a:ln w="9525">
            <a:solidFill>
              <a:srgbClr val="22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14432" y="2788920"/>
            <a:ext cx="310896" cy="31089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69680" y="1344168"/>
            <a:ext cx="182880" cy="18288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923776" y="427024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97696" y="4398264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997696" y="1371600"/>
            <a:ext cx="1362456" cy="1508760"/>
          </a:xfrm>
          <a:prstGeom prst="line">
            <a:avLst/>
          </a:prstGeom>
          <a:ln w="15875">
            <a:solidFill>
              <a:srgbClr val="2A4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424160" y="2953512"/>
            <a:ext cx="1463040" cy="1335024"/>
          </a:xfrm>
          <a:prstGeom prst="line">
            <a:avLst/>
          </a:prstGeom>
          <a:ln w="15875">
            <a:solidFill>
              <a:srgbClr val="2A4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960120" y="1847088"/>
            <a:ext cx="841248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121408"/>
            <a:ext cx="7863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5500" b="1" i="0">
                <a:solidFill>
                  <a:srgbClr val="EAF0F8"/>
                </a:solidFill>
                <a:latin typeface="微软雅黑"/>
                <a:ea typeface="微软雅黑"/>
              </a:rPr>
              <a:t>Agent 发展趋势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273552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i="0">
                <a:solidFill>
                  <a:srgbClr val="93A4BC"/>
                </a:solidFill>
                <a:latin typeface="微软雅黑"/>
                <a:ea typeface="微软雅黑"/>
              </a:rPr>
              <a:t>从对话式助手到自主执行体：技术栈、生态协议与生产化落地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0120" y="4279392"/>
            <a:ext cx="6766560" cy="0"/>
          </a:xfrm>
          <a:prstGeom prst="line">
            <a:avLst/>
          </a:prstGeom>
          <a:ln w="12700">
            <a:solidFill>
              <a:srgbClr val="273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60120" y="4462272"/>
            <a:ext cx="7589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2D3EE"/>
                </a:solidFill>
                <a:latin typeface="微软雅黑"/>
                <a:ea typeface="微软雅黑"/>
              </a:rPr>
              <a:t>核心命题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EAF0F8"/>
                </a:solidFill>
                <a:latin typeface="微软雅黑"/>
                <a:ea typeface="微软雅黑"/>
              </a:rPr>
              <a:t>价值锚点已从「回答得多好」转向「任务能否闭环交付」；竞争点从模型能力转向上下文、协议与生产可靠性。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943600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C7F99"/>
                </a:solidFill>
                <a:latin typeface="微软雅黑"/>
                <a:ea typeface="微软雅黑"/>
              </a:rPr>
              <a:t>10 页速览  ·  面向技术决策者  ·  2026 观察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57200"/>
            <a:ext cx="64008" cy="2926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3891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 spc="120">
                <a:solidFill>
                  <a:srgbClr val="22D3EE"/>
                </a:solidFill>
                <a:latin typeface="微软雅黑"/>
                <a:ea typeface="微软雅黑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EAF0F8"/>
                </a:solidFill>
                <a:latin typeface="微软雅黑"/>
                <a:ea typeface="微软雅黑"/>
              </a:rPr>
              <a:t>执行摘要：四条核心判断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463040"/>
            <a:ext cx="10817352" cy="0"/>
          </a:xfrm>
          <a:prstGeom prst="line">
            <a:avLst/>
          </a:prstGeom>
          <a:ln w="12700">
            <a:solidFill>
              <a:srgbClr val="273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C7F99"/>
                </a:solidFill>
                <a:latin typeface="微软雅黑"/>
                <a:ea typeface="微软雅黑"/>
              </a:rPr>
              <a:t>Agent 发展趋势  ·  技术 / 生态 / 落地观察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97312" y="638251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C7F99"/>
                </a:solidFill>
                <a:latin typeface="微软雅黑"/>
                <a:ea typeface="微软雅黑"/>
              </a:rPr>
              <a:t>02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5120640" cy="1371600"/>
          </a:xfrm>
          <a:prstGeom prst="roundRect">
            <a:avLst>
              <a:gd name="adj" fmla="val 7000"/>
            </a:avLst>
          </a:prstGeom>
          <a:solidFill>
            <a:srgbClr val="131E33"/>
          </a:solidFill>
          <a:ln w="9525">
            <a:solidFill>
              <a:srgbClr val="273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83664"/>
            <a:ext cx="50292" cy="10789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901952"/>
            <a:ext cx="658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2D3EE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920240"/>
            <a:ext cx="40050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EAF0F8"/>
                </a:solidFill>
                <a:latin typeface="微软雅黑"/>
                <a:ea typeface="微软雅黑"/>
              </a:rPr>
              <a:t>从「生成内容」到「完成工作」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304288"/>
            <a:ext cx="4005072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3A4BC"/>
                </a:solidFill>
                <a:latin typeface="微软雅黑"/>
                <a:ea typeface="微软雅黑"/>
              </a:rPr>
              <a:t>价值锚点从回答质量转向任务闭环率与可交付结果，衡量标准变成"省了多少人时"。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82512" y="1737360"/>
            <a:ext cx="5120640" cy="1371600"/>
          </a:xfrm>
          <a:prstGeom prst="roundRect">
            <a:avLst>
              <a:gd name="adj" fmla="val 7000"/>
            </a:avLst>
          </a:prstGeom>
          <a:solidFill>
            <a:srgbClr val="131E33"/>
          </a:solidFill>
          <a:ln w="9525">
            <a:solidFill>
              <a:srgbClr val="273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82512" y="1883664"/>
            <a:ext cx="50292" cy="10789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38544" y="1901952"/>
            <a:ext cx="658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B5CF6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6912" y="1920240"/>
            <a:ext cx="40050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EAF0F8"/>
                </a:solidFill>
                <a:latin typeface="微软雅黑"/>
                <a:ea typeface="微软雅黑"/>
              </a:rPr>
              <a:t>上下文工程取代提示词工程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96912" y="2304288"/>
            <a:ext cx="4005072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3A4BC"/>
                </a:solidFill>
                <a:latin typeface="微软雅黑"/>
                <a:ea typeface="微软雅黑"/>
              </a:rPr>
              <a:t>记忆、检索、工具描述与状态压缩共同决定能力上限，长上下文 ≠ 有效上下文。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255264"/>
            <a:ext cx="5120640" cy="1371600"/>
          </a:xfrm>
          <a:prstGeom prst="roundRect">
            <a:avLst>
              <a:gd name="adj" fmla="val 7000"/>
            </a:avLst>
          </a:prstGeom>
          <a:solidFill>
            <a:srgbClr val="131E33"/>
          </a:solidFill>
          <a:ln w="9525">
            <a:solidFill>
              <a:srgbClr val="273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401568"/>
            <a:ext cx="50292" cy="10789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3419856"/>
            <a:ext cx="658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9E0B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3438144"/>
            <a:ext cx="40050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EAF0F8"/>
                </a:solidFill>
                <a:latin typeface="微软雅黑"/>
                <a:ea typeface="微软雅黑"/>
              </a:rPr>
              <a:t>协议层正在收敛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822191"/>
            <a:ext cx="4005072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3A4BC"/>
                </a:solidFill>
                <a:latin typeface="微软雅黑"/>
                <a:ea typeface="微软雅黑"/>
              </a:rPr>
              <a:t>MCP 统一工具接入、A2A 类协议打通智能体互操作，"插件"正在变成"基础设施"。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82512" y="3255264"/>
            <a:ext cx="5120640" cy="1371600"/>
          </a:xfrm>
          <a:prstGeom prst="roundRect">
            <a:avLst>
              <a:gd name="adj" fmla="val 7000"/>
            </a:avLst>
          </a:prstGeom>
          <a:solidFill>
            <a:srgbClr val="131E33"/>
          </a:solidFill>
          <a:ln w="9525">
            <a:solidFill>
              <a:srgbClr val="273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82512" y="3401568"/>
            <a:ext cx="50292" cy="107899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38544" y="3419856"/>
            <a:ext cx="658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4D399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96912" y="3438144"/>
            <a:ext cx="40050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EAF0F8"/>
                </a:solidFill>
                <a:latin typeface="微软雅黑"/>
                <a:ea typeface="微软雅黑"/>
              </a:rPr>
              <a:t>生产化差距是主战场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96912" y="3822191"/>
            <a:ext cx="4005072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3A4BC"/>
                </a:solidFill>
                <a:latin typeface="微软雅黑"/>
                <a:ea typeface="微软雅黑"/>
              </a:rPr>
              <a:t>可靠性、可观测性、权限治理与任务级评测，决定谁能从演示真正走到规模化。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901184"/>
            <a:ext cx="10817352" cy="1225296"/>
          </a:xfrm>
          <a:prstGeom prst="roundRect">
            <a:avLst>
              <a:gd name="adj" fmla="val 7000"/>
            </a:avLst>
          </a:prstGeom>
          <a:solidFill>
            <a:srgbClr val="1B2A44"/>
          </a:solidFill>
          <a:ln w="9525">
            <a:solidFill>
              <a:srgbClr val="2C42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" y="4901184"/>
            <a:ext cx="10817352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5138928"/>
            <a:ext cx="10149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22D3EE"/>
                </a:solidFill>
                <a:latin typeface="微软雅黑"/>
                <a:ea typeface="微软雅黑"/>
              </a:rPr>
              <a:t>一句话结论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AF0F8"/>
                </a:solidFill>
                <a:latin typeface="微软雅黑"/>
                <a:ea typeface="微软雅黑"/>
              </a:rPr>
              <a:t>2026 年的竞争点不再是「能不能做出 Agent」，而是能否稳定、可审计、低成本地把长程任务交付出去。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57200"/>
            <a:ext cx="64008" cy="2926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3891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 spc="120">
                <a:solidFill>
                  <a:srgbClr val="22D3EE"/>
                </a:solidFill>
                <a:latin typeface="微软雅黑"/>
                <a:ea typeface="微软雅黑"/>
              </a:rPr>
              <a:t>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EAF0F8"/>
                </a:solidFill>
                <a:latin typeface="微软雅黑"/>
                <a:ea typeface="微软雅黑"/>
              </a:rPr>
              <a:t>范式演进：从会聊天到会干活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463040"/>
            <a:ext cx="10817352" cy="0"/>
          </a:xfrm>
          <a:prstGeom prst="line">
            <a:avLst/>
          </a:prstGeom>
          <a:ln w="12700">
            <a:solidFill>
              <a:srgbClr val="273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C7F99"/>
                </a:solidFill>
                <a:latin typeface="微软雅黑"/>
                <a:ea typeface="微软雅黑"/>
              </a:rPr>
              <a:t>Agent 发展趋势  ·  技术 / 生态 / 落地观察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97312" y="638251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C7F99"/>
                </a:solidFill>
                <a:latin typeface="微软雅黑"/>
                <a:ea typeface="微软雅黑"/>
              </a:rPr>
              <a:t>03 / 10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60120" y="3145536"/>
            <a:ext cx="10378440" cy="0"/>
          </a:xfrm>
          <a:prstGeom prst="line">
            <a:avLst/>
          </a:prstGeom>
          <a:ln w="19050">
            <a:solidFill>
              <a:srgbClr val="223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298448" y="3040379"/>
            <a:ext cx="210312" cy="210312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39595" y="3081528"/>
            <a:ext cx="128016" cy="128016"/>
          </a:xfrm>
          <a:prstGeom prst="ellipse">
            <a:avLst/>
          </a:prstGeom>
          <a:solidFill>
            <a:srgbClr val="0A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7" y="1572768"/>
            <a:ext cx="21031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8B5CF6"/>
                </a:solidFill>
                <a:latin typeface="微软雅黑"/>
                <a:ea typeface="微软雅黑"/>
              </a:rPr>
              <a:t>2022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EAF0F8"/>
                </a:solidFill>
                <a:latin typeface="微软雅黑"/>
                <a:ea typeface="微软雅黑"/>
              </a:rPr>
              <a:t>对话式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C7F99"/>
                </a:solidFill>
                <a:latin typeface="微软雅黑"/>
                <a:ea typeface="微软雅黑"/>
              </a:rPr>
              <a:t>Chatbot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4BC"/>
                </a:solidFill>
                <a:latin typeface="微软雅黑"/>
                <a:ea typeface="微软雅黑"/>
              </a:rPr>
              <a:t>单轮文本生成，人负责执行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03604" y="2816352"/>
            <a:ext cx="0" cy="219456"/>
          </a:xfrm>
          <a:prstGeom prst="line">
            <a:avLst/>
          </a:prstGeom>
          <a:ln w="12700">
            <a:solidFill>
              <a:srgbClr val="223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401568" y="3040379"/>
            <a:ext cx="210312" cy="210312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42716" y="3081528"/>
            <a:ext cx="128016" cy="128016"/>
          </a:xfrm>
          <a:prstGeom prst="ellipse">
            <a:avLst/>
          </a:prstGeom>
          <a:solidFill>
            <a:srgbClr val="0A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41448" y="3547872"/>
            <a:ext cx="21031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8B5CF6"/>
                </a:solidFill>
                <a:latin typeface="微软雅黑"/>
                <a:ea typeface="微软雅黑"/>
              </a:rPr>
              <a:t>2023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EAF0F8"/>
                </a:solidFill>
                <a:latin typeface="微软雅黑"/>
                <a:ea typeface="微软雅黑"/>
              </a:rPr>
              <a:t>辅助式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C7F99"/>
                </a:solidFill>
                <a:latin typeface="微软雅黑"/>
                <a:ea typeface="微软雅黑"/>
              </a:rPr>
              <a:t>Copilot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4BC"/>
                </a:solidFill>
                <a:latin typeface="微软雅黑"/>
                <a:ea typeface="微软雅黑"/>
              </a:rPr>
              <a:t>嵌入既有工作流，人机协同补全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06724" y="3255264"/>
            <a:ext cx="0" cy="292608"/>
          </a:xfrm>
          <a:prstGeom prst="line">
            <a:avLst/>
          </a:prstGeom>
          <a:ln w="12700">
            <a:solidFill>
              <a:srgbClr val="223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504688" y="3040379"/>
            <a:ext cx="210312" cy="210312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545836" y="3081528"/>
            <a:ext cx="128016" cy="128016"/>
          </a:xfrm>
          <a:prstGeom prst="ellipse">
            <a:avLst/>
          </a:prstGeom>
          <a:solidFill>
            <a:srgbClr val="0A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4568" y="1572768"/>
            <a:ext cx="21031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22D3EE"/>
                </a:solidFill>
                <a:latin typeface="微软雅黑"/>
                <a:ea typeface="微软雅黑"/>
              </a:rPr>
              <a:t>2024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EAF0F8"/>
                </a:solidFill>
                <a:latin typeface="微软雅黑"/>
                <a:ea typeface="微软雅黑"/>
              </a:rPr>
              <a:t>工具化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C7F99"/>
                </a:solidFill>
                <a:latin typeface="微软雅黑"/>
                <a:ea typeface="微软雅黑"/>
              </a:rPr>
              <a:t>Function Calling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4BC"/>
                </a:solidFill>
                <a:latin typeface="微软雅黑"/>
                <a:ea typeface="微软雅黑"/>
              </a:rPr>
              <a:t>调用外部工具完成原子动作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609844" y="2816352"/>
            <a:ext cx="0" cy="219456"/>
          </a:xfrm>
          <a:prstGeom prst="line">
            <a:avLst/>
          </a:prstGeom>
          <a:ln w="12700">
            <a:solidFill>
              <a:srgbClr val="223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607808" y="3040379"/>
            <a:ext cx="210312" cy="210312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48956" y="3081528"/>
            <a:ext cx="128016" cy="128016"/>
          </a:xfrm>
          <a:prstGeom prst="ellipse">
            <a:avLst/>
          </a:prstGeom>
          <a:solidFill>
            <a:srgbClr val="0A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47688" y="3547872"/>
            <a:ext cx="21031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22D3EE"/>
                </a:solidFill>
                <a:latin typeface="微软雅黑"/>
                <a:ea typeface="微软雅黑"/>
              </a:rPr>
              <a:t>2025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EAF0F8"/>
                </a:solidFill>
                <a:latin typeface="微软雅黑"/>
                <a:ea typeface="微软雅黑"/>
              </a:rPr>
              <a:t>编排式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C7F99"/>
                </a:solidFill>
                <a:latin typeface="微软雅黑"/>
                <a:ea typeface="微软雅黑"/>
              </a:rPr>
              <a:t>Agentic Workflow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4BC"/>
                </a:solidFill>
                <a:latin typeface="微软雅黑"/>
                <a:ea typeface="微软雅黑"/>
              </a:rPr>
              <a:t>流程编排 + 多智能体并行分工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12964" y="3255264"/>
            <a:ext cx="0" cy="292608"/>
          </a:xfrm>
          <a:prstGeom prst="line">
            <a:avLst/>
          </a:prstGeom>
          <a:ln w="12700">
            <a:solidFill>
              <a:srgbClr val="223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9710928" y="3040379"/>
            <a:ext cx="210312" cy="21031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752076" y="3081528"/>
            <a:ext cx="128016" cy="128016"/>
          </a:xfrm>
          <a:prstGeom prst="ellipse">
            <a:avLst/>
          </a:prstGeom>
          <a:solidFill>
            <a:srgbClr val="0A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50807" y="1572768"/>
            <a:ext cx="21031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59E0B"/>
                </a:solidFill>
                <a:latin typeface="微软雅黑"/>
                <a:ea typeface="微软雅黑"/>
              </a:rPr>
              <a:t>2026+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EAF0F8"/>
                </a:solidFill>
                <a:latin typeface="微软雅黑"/>
                <a:ea typeface="微软雅黑"/>
              </a:rPr>
              <a:t>自主化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C7F99"/>
                </a:solidFill>
                <a:latin typeface="微软雅黑"/>
                <a:ea typeface="微软雅黑"/>
              </a:rPr>
              <a:t>Autonomous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4BC"/>
                </a:solidFill>
                <a:latin typeface="微软雅黑"/>
                <a:ea typeface="微软雅黑"/>
              </a:rPr>
              <a:t>长程任务、持续记忆、自我纠错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816084" y="2816352"/>
            <a:ext cx="0" cy="219456"/>
          </a:xfrm>
          <a:prstGeom prst="line">
            <a:avLst/>
          </a:prstGeom>
          <a:ln w="12700">
            <a:solidFill>
              <a:srgbClr val="223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85800" y="5138928"/>
            <a:ext cx="10817352" cy="987552"/>
          </a:xfrm>
          <a:prstGeom prst="roundRect">
            <a:avLst>
              <a:gd name="adj" fmla="val 7000"/>
            </a:avLst>
          </a:prstGeom>
          <a:solidFill>
            <a:srgbClr val="131E33"/>
          </a:solidFill>
          <a:ln w="9525">
            <a:solidFill>
              <a:srgbClr val="273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3400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2D3EE"/>
                </a:solidFill>
                <a:latin typeface="微软雅黑"/>
                <a:ea typeface="微软雅黑"/>
              </a:rPr>
              <a:t>阶段划分依据：</a:t>
            </a:r>
            <a:r>
              <a:rPr sz="1250" b="0" i="0">
                <a:solidFill>
                  <a:srgbClr val="EAF0F8"/>
                </a:solidFill>
                <a:latin typeface="微软雅黑"/>
                <a:ea typeface="微软雅黑"/>
              </a:rPr>
              <a:t>能力单元（回答 → 动作 → 任务 → 目标）与人工介入粒度（逐步确认 → 关键节点确认 → 只负责目标与验收）。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6C7F99"/>
                </a:solidFill>
                <a:latin typeface="微软雅黑"/>
                <a:ea typeface="微软雅黑"/>
              </a:rPr>
              <a:t>注：年份为标志性事件出现区间，代表行业共识节奏，非精确时间点。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57200"/>
            <a:ext cx="64008" cy="2926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3891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 spc="120">
                <a:solidFill>
                  <a:srgbClr val="22D3EE"/>
                </a:solidFill>
                <a:latin typeface="微软雅黑"/>
                <a:ea typeface="微软雅黑"/>
              </a:rPr>
              <a:t>AUTONOMY LEVELS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EAF0F8"/>
                </a:solidFill>
                <a:latin typeface="微软雅黑"/>
                <a:ea typeface="微软雅黑"/>
              </a:rPr>
              <a:t>自主性分级：先想清楚你要造哪一级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463040"/>
            <a:ext cx="10817352" cy="0"/>
          </a:xfrm>
          <a:prstGeom prst="line">
            <a:avLst/>
          </a:prstGeom>
          <a:ln w="12700">
            <a:solidFill>
              <a:srgbClr val="273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C7F99"/>
                </a:solidFill>
                <a:latin typeface="微软雅黑"/>
                <a:ea typeface="微软雅黑"/>
              </a:rPr>
              <a:t>Agent 发展趋势  ·  技术 / 生态 / 落地观察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97312" y="638251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C7F99"/>
                </a:solidFill>
                <a:latin typeface="微软雅黑"/>
                <a:ea typeface="微软雅黑"/>
              </a:rPr>
              <a:t>04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206240"/>
            <a:ext cx="960120" cy="713232"/>
          </a:xfrm>
          <a:prstGeom prst="roundRect">
            <a:avLst>
              <a:gd name="adj" fmla="val 7000"/>
            </a:avLst>
          </a:prstGeom>
          <a:solidFill>
            <a:srgbClr val="131E33"/>
          </a:solidFill>
          <a:ln w="9525">
            <a:solidFill>
              <a:srgbClr val="273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4206240"/>
            <a:ext cx="960120" cy="50292"/>
          </a:xfrm>
          <a:prstGeom prst="rect">
            <a:avLst/>
          </a:prstGeom>
          <a:solidFill>
            <a:srgbClr val="6C7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430682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C7F99"/>
                </a:solidFill>
                <a:latin typeface="微软雅黑"/>
                <a:ea typeface="微软雅黑"/>
              </a:rPr>
              <a:t>L0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72184" y="430682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AF0F8"/>
                </a:solidFill>
                <a:latin typeface="微软雅黑"/>
                <a:ea typeface="微软雅黑"/>
              </a:rPr>
              <a:t>无自主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96312" y="4334255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4BC"/>
                </a:solidFill>
                <a:latin typeface="微软雅黑"/>
                <a:ea typeface="微软雅黑"/>
              </a:rPr>
              <a:t>纯文本生成，无工具访问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19856"/>
            <a:ext cx="1783080" cy="713232"/>
          </a:xfrm>
          <a:prstGeom prst="roundRect">
            <a:avLst>
              <a:gd name="adj" fmla="val 7000"/>
            </a:avLst>
          </a:prstGeom>
          <a:solidFill>
            <a:srgbClr val="131E33"/>
          </a:solidFill>
          <a:ln w="9525">
            <a:solidFill>
              <a:srgbClr val="273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419856"/>
            <a:ext cx="1783080" cy="50292"/>
          </a:xfrm>
          <a:prstGeom prst="rect">
            <a:avLst/>
          </a:prstGeom>
          <a:solidFill>
            <a:srgbClr val="4D9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35204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D9AC4"/>
                </a:solidFill>
                <a:latin typeface="微软雅黑"/>
                <a:ea typeface="微软雅黑"/>
              </a:rPr>
              <a:t>L1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72184" y="352044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AF0F8"/>
                </a:solidFill>
                <a:latin typeface="微软雅黑"/>
                <a:ea typeface="微软雅黑"/>
              </a:rPr>
              <a:t>建议级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96312" y="354787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4BC"/>
                </a:solidFill>
                <a:latin typeface="微软雅黑"/>
                <a:ea typeface="微软雅黑"/>
              </a:rPr>
              <a:t>给出方案与步骤，由人执行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2633472"/>
            <a:ext cx="2606040" cy="713232"/>
          </a:xfrm>
          <a:prstGeom prst="roundRect">
            <a:avLst>
              <a:gd name="adj" fmla="val 7000"/>
            </a:avLst>
          </a:prstGeom>
          <a:solidFill>
            <a:srgbClr val="131E33"/>
          </a:solidFill>
          <a:ln w="9525">
            <a:solidFill>
              <a:srgbClr val="273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2633472"/>
            <a:ext cx="2606040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73405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2D3EE"/>
                </a:solidFill>
                <a:latin typeface="微软雅黑"/>
                <a:ea typeface="微软雅黑"/>
              </a:rPr>
              <a:t>L2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72184" y="273405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AF0F8"/>
                </a:solidFill>
                <a:latin typeface="微软雅黑"/>
                <a:ea typeface="微软雅黑"/>
              </a:rPr>
              <a:t>单步执行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96312" y="276148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4BC"/>
                </a:solidFill>
                <a:latin typeface="微软雅黑"/>
                <a:ea typeface="微软雅黑"/>
              </a:rPr>
              <a:t>调用工具完成原子动作，逐步确认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1847088"/>
            <a:ext cx="3429000" cy="713232"/>
          </a:xfrm>
          <a:prstGeom prst="roundRect">
            <a:avLst>
              <a:gd name="adj" fmla="val 7000"/>
            </a:avLst>
          </a:prstGeom>
          <a:solidFill>
            <a:srgbClr val="131E33"/>
          </a:solidFill>
          <a:ln w="9525">
            <a:solidFill>
              <a:srgbClr val="273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1847088"/>
            <a:ext cx="3429000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19476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B5CF6"/>
                </a:solidFill>
                <a:latin typeface="微软雅黑"/>
                <a:ea typeface="微软雅黑"/>
              </a:rPr>
              <a:t>L3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72184" y="194767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AF0F8"/>
                </a:solidFill>
                <a:latin typeface="微软雅黑"/>
                <a:ea typeface="微软雅黑"/>
              </a:rPr>
              <a:t>任务级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96312" y="1975104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4BC"/>
                </a:solidFill>
                <a:latin typeface="微软雅黑"/>
                <a:ea typeface="微软雅黑"/>
              </a:rPr>
              <a:t>多步自主推进，关键节点人工确认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1060704"/>
            <a:ext cx="4251960" cy="713232"/>
          </a:xfrm>
          <a:prstGeom prst="roundRect">
            <a:avLst>
              <a:gd name="adj" fmla="val 7000"/>
            </a:avLst>
          </a:prstGeom>
          <a:solidFill>
            <a:srgbClr val="131E33"/>
          </a:solidFill>
          <a:ln w="9525">
            <a:solidFill>
              <a:srgbClr val="273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" y="1060704"/>
            <a:ext cx="4251960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256" y="11612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9E0B"/>
                </a:solidFill>
                <a:latin typeface="微软雅黑"/>
                <a:ea typeface="微软雅黑"/>
              </a:rPr>
              <a:t>L4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72184" y="11612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AF0F8"/>
                </a:solidFill>
                <a:latin typeface="微软雅黑"/>
                <a:ea typeface="微软雅黑"/>
              </a:rPr>
              <a:t>长程自治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96312" y="118872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4BC"/>
                </a:solidFill>
                <a:latin typeface="微软雅黑"/>
                <a:ea typeface="微软雅黑"/>
              </a:rPr>
              <a:t>跨会话持续目标，自我评估与恢复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21792" y="1060704"/>
            <a:ext cx="0" cy="3968496"/>
          </a:xfrm>
          <a:prstGeom prst="line">
            <a:avLst/>
          </a:prstGeom>
          <a:ln w="15875">
            <a:solidFill>
              <a:srgbClr val="223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21792" y="4992624"/>
            <a:ext cx="5257800" cy="0"/>
          </a:xfrm>
          <a:prstGeom prst="line">
            <a:avLst/>
          </a:prstGeom>
          <a:ln w="15875">
            <a:solidFill>
              <a:srgbClr val="223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84048" y="51206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C7F99"/>
                </a:solidFill>
                <a:latin typeface="微软雅黑"/>
                <a:ea typeface="微软雅黑"/>
              </a:rPr>
              <a:t>自主性 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82512" y="1737360"/>
            <a:ext cx="5120640" cy="1225296"/>
          </a:xfrm>
          <a:prstGeom prst="roundRect">
            <a:avLst>
              <a:gd name="adj" fmla="val 7000"/>
            </a:avLst>
          </a:prstGeom>
          <a:solidFill>
            <a:srgbClr val="131E33"/>
          </a:solidFill>
          <a:ln w="9525">
            <a:solidFill>
              <a:srgbClr val="273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82512" y="1901952"/>
            <a:ext cx="50292" cy="89611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38544" y="1920240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AF0F8"/>
                </a:solidFill>
                <a:latin typeface="微软雅黑"/>
                <a:ea typeface="微软雅黑"/>
              </a:rPr>
              <a:t>当前落地主战场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38544" y="2286000"/>
            <a:ext cx="466344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3A4BC"/>
                </a:solidFill>
                <a:latin typeface="微软雅黑"/>
                <a:ea typeface="微软雅黑"/>
              </a:rPr>
              <a:t>L2 – L3 之间：单步可信、多步可控。多数生产系统止步于此，瓶颈不在模型，而在权限模型与失败恢复。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82512" y="3145536"/>
            <a:ext cx="5120640" cy="1225296"/>
          </a:xfrm>
          <a:prstGeom prst="roundRect">
            <a:avLst>
              <a:gd name="adj" fmla="val 7000"/>
            </a:avLst>
          </a:prstGeom>
          <a:solidFill>
            <a:srgbClr val="131E33"/>
          </a:solidFill>
          <a:ln w="9525">
            <a:solidFill>
              <a:srgbClr val="273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82512" y="3310128"/>
            <a:ext cx="50292" cy="89611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38544" y="3328416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AF0F8"/>
                </a:solidFill>
                <a:latin typeface="微软雅黑"/>
                <a:ea typeface="微软雅黑"/>
              </a:rPr>
              <a:t>能力跃迁的三个前提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38544" y="3694176"/>
            <a:ext cx="466344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3A4BC"/>
                </a:solidFill>
                <a:latin typeface="微软雅黑"/>
                <a:ea typeface="微软雅黑"/>
              </a:rPr>
              <a:t>① 状态可持久化    ② 错误可检测与回滚    ③ 成本可控可预算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82512" y="4553712"/>
            <a:ext cx="5120640" cy="1225296"/>
          </a:xfrm>
          <a:prstGeom prst="roundRect">
            <a:avLst>
              <a:gd name="adj" fmla="val 7000"/>
            </a:avLst>
          </a:prstGeom>
          <a:solidFill>
            <a:srgbClr val="131E33"/>
          </a:solidFill>
          <a:ln w="9525">
            <a:solidFill>
              <a:srgbClr val="273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82512" y="4718304"/>
            <a:ext cx="50292" cy="896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38544" y="4736592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AF0F8"/>
                </a:solidFill>
                <a:latin typeface="微软雅黑"/>
                <a:ea typeface="微软雅黑"/>
              </a:rPr>
              <a:t>分级的工程意义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38544" y="5102352"/>
            <a:ext cx="466344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3A4BC"/>
                </a:solidFill>
                <a:latin typeface="微软雅黑"/>
                <a:ea typeface="微软雅黑"/>
              </a:rPr>
              <a:t>自主性每上一级，权限模型、审计要求与评测复杂度都需同步升级，不可"跳级"上线。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57200"/>
            <a:ext cx="64008" cy="2926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3891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 spc="120">
                <a:solidFill>
                  <a:srgbClr val="22D3EE"/>
                </a:solidFill>
                <a:latin typeface="微软雅黑"/>
                <a:ea typeface="微软雅黑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EAF0F8"/>
                </a:solidFill>
                <a:latin typeface="微软雅黑"/>
                <a:ea typeface="微软雅黑"/>
              </a:rPr>
              <a:t>技术栈解剖：五层结构决定能力上限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463040"/>
            <a:ext cx="10817352" cy="0"/>
          </a:xfrm>
          <a:prstGeom prst="line">
            <a:avLst/>
          </a:prstGeom>
          <a:ln w="12700">
            <a:solidFill>
              <a:srgbClr val="273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C7F99"/>
                </a:solidFill>
                <a:latin typeface="微软雅黑"/>
                <a:ea typeface="微软雅黑"/>
              </a:rPr>
              <a:t>Agent 发展趋势  ·  技术 / 生态 / 落地观察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97312" y="638251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C7F99"/>
                </a:solidFill>
                <a:latin typeface="微软雅黑"/>
                <a:ea typeface="微软雅黑"/>
              </a:rPr>
              <a:t>05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19072"/>
            <a:ext cx="7818120" cy="749808"/>
          </a:xfrm>
          <a:prstGeom prst="roundRect">
            <a:avLst>
              <a:gd name="adj" fmla="val 7000"/>
            </a:avLst>
          </a:prstGeom>
          <a:solidFill>
            <a:srgbClr val="131E33"/>
          </a:solidFill>
          <a:ln w="9525">
            <a:solidFill>
              <a:srgbClr val="273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19072"/>
            <a:ext cx="64008" cy="7498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47088"/>
            <a:ext cx="2286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EAF0F8"/>
                </a:solidFill>
                <a:latin typeface="微软雅黑"/>
                <a:ea typeface="微软雅黑"/>
              </a:rPr>
              <a:t>交互与编排层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8688" y="1874519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4BC"/>
                </a:solidFill>
                <a:latin typeface="微软雅黑"/>
                <a:ea typeface="微软雅黑"/>
              </a:rPr>
              <a:t>会话与任务编排 · 多智能体路由 · 人机确认点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578608"/>
            <a:ext cx="7818120" cy="749808"/>
          </a:xfrm>
          <a:prstGeom prst="roundRect">
            <a:avLst>
              <a:gd name="adj" fmla="val 7000"/>
            </a:avLst>
          </a:prstGeom>
          <a:solidFill>
            <a:srgbClr val="131E33"/>
          </a:solidFill>
          <a:ln w="9525">
            <a:solidFill>
              <a:srgbClr val="273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578608"/>
            <a:ext cx="64008" cy="74980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706624"/>
            <a:ext cx="2286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EAF0F8"/>
                </a:solidFill>
                <a:latin typeface="微软雅黑"/>
                <a:ea typeface="微软雅黑"/>
              </a:rPr>
              <a:t>规划与推理层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18688" y="2734056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4BC"/>
                </a:solidFill>
                <a:latin typeface="微软雅黑"/>
                <a:ea typeface="微软雅黑"/>
              </a:rPr>
              <a:t>任务分解 · 反思与重规划 · 并行调度与依赖管理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438144"/>
            <a:ext cx="7818120" cy="749808"/>
          </a:xfrm>
          <a:prstGeom prst="roundRect">
            <a:avLst>
              <a:gd name="adj" fmla="val 7000"/>
            </a:avLst>
          </a:prstGeom>
          <a:solidFill>
            <a:srgbClr val="131E33"/>
          </a:solidFill>
          <a:ln w="9525">
            <a:solidFill>
              <a:srgbClr val="273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438144"/>
            <a:ext cx="64008" cy="7498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566160"/>
            <a:ext cx="2286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EAF0F8"/>
                </a:solidFill>
                <a:latin typeface="微软雅黑"/>
                <a:ea typeface="微软雅黑"/>
              </a:rPr>
              <a:t>上下文与记忆层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18688" y="3593591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4BC"/>
                </a:solidFill>
                <a:latin typeface="微软雅黑"/>
                <a:ea typeface="微软雅黑"/>
              </a:rPr>
              <a:t>上下文工程 · 长短期记忆 · 检索 / 压缩 / 分层加载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297679"/>
            <a:ext cx="7818120" cy="749808"/>
          </a:xfrm>
          <a:prstGeom prst="roundRect">
            <a:avLst>
              <a:gd name="adj" fmla="val 7000"/>
            </a:avLst>
          </a:prstGeom>
          <a:solidFill>
            <a:srgbClr val="131E33"/>
          </a:solidFill>
          <a:ln w="9525">
            <a:solidFill>
              <a:srgbClr val="273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4297679"/>
            <a:ext cx="64008" cy="74980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425695"/>
            <a:ext cx="2286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EAF0F8"/>
                </a:solidFill>
                <a:latin typeface="微软雅黑"/>
                <a:ea typeface="微软雅黑"/>
              </a:rPr>
              <a:t>工具与执行层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18688" y="4453127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4BC"/>
                </a:solidFill>
                <a:latin typeface="微软雅黑"/>
                <a:ea typeface="微软雅黑"/>
              </a:rPr>
              <a:t>文件 · 终端 · 浏览器 · 企业 API，经 MCP 统一接入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157216"/>
            <a:ext cx="7818120" cy="749808"/>
          </a:xfrm>
          <a:prstGeom prst="roundRect">
            <a:avLst>
              <a:gd name="adj" fmla="val 7000"/>
            </a:avLst>
          </a:prstGeom>
          <a:solidFill>
            <a:srgbClr val="131E33"/>
          </a:solidFill>
          <a:ln w="9525">
            <a:solidFill>
              <a:srgbClr val="273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5157216"/>
            <a:ext cx="64008" cy="74980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5285231"/>
            <a:ext cx="2286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EAF0F8"/>
                </a:solidFill>
                <a:latin typeface="微软雅黑"/>
                <a:ea typeface="微软雅黑"/>
              </a:rPr>
              <a:t>治理与评测层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18688" y="5312664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4BC"/>
                </a:solidFill>
                <a:latin typeface="微软雅黑"/>
                <a:ea typeface="微软雅黑"/>
              </a:rPr>
              <a:t>权限沙箱 · 审计日志 · 成本预算 · 任务级评测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96528" y="1719072"/>
            <a:ext cx="2706624" cy="4133087"/>
          </a:xfrm>
          <a:prstGeom prst="roundRect">
            <a:avLst>
              <a:gd name="adj" fmla="val 7000"/>
            </a:avLst>
          </a:prstGeom>
          <a:solidFill>
            <a:srgbClr val="070C18"/>
          </a:solidFill>
          <a:ln w="9525">
            <a:solidFill>
              <a:srgbClr val="273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70848" y="1956816"/>
            <a:ext cx="2194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2D3EE"/>
                </a:solidFill>
                <a:latin typeface="微软雅黑"/>
                <a:ea typeface="微软雅黑"/>
              </a:rPr>
              <a:t>读法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AF0F8"/>
                </a:solidFill>
                <a:latin typeface="微软雅黑"/>
                <a:ea typeface="微软雅黑"/>
              </a:rPr>
              <a:t>自下而上看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070848" y="2560320"/>
            <a:ext cx="2157984" cy="0"/>
          </a:xfrm>
          <a:prstGeom prst="line">
            <a:avLst/>
          </a:prstGeom>
          <a:ln w="9525">
            <a:solidFill>
              <a:srgbClr val="273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070848" y="274320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4D399"/>
                </a:solidFill>
                <a:latin typeface="微软雅黑"/>
                <a:ea typeface="微软雅黑"/>
              </a:rPr>
              <a:t>下限由底层定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4BC"/>
                </a:solidFill>
                <a:latin typeface="微软雅黑"/>
                <a:ea typeface="微软雅黑"/>
              </a:rPr>
              <a:t>治理与工具决定"能否交付"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70848" y="3767328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2D3EE"/>
                </a:solidFill>
                <a:latin typeface="微软雅黑"/>
                <a:ea typeface="微软雅黑"/>
              </a:rPr>
              <a:t>上限由中间定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4BC"/>
                </a:solidFill>
                <a:latin typeface="微软雅黑"/>
                <a:ea typeface="微软雅黑"/>
              </a:rPr>
              <a:t>上下文与规划决定"能走多远"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70848" y="4791456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59E0B"/>
                </a:solidFill>
                <a:latin typeface="微软雅黑"/>
                <a:ea typeface="微软雅黑"/>
              </a:rPr>
              <a:t>体感由顶层定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4BC"/>
                </a:solidFill>
                <a:latin typeface="微软雅黑"/>
                <a:ea typeface="微软雅黑"/>
              </a:rPr>
              <a:t>确认粒度决定"敢不敢放手"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541264"/>
            <a:ext cx="7818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2D3EE"/>
                </a:solidFill>
                <a:latin typeface="微软雅黑"/>
                <a:ea typeface="微软雅黑"/>
              </a:rPr>
              <a:t>关键洞察：</a:t>
            </a:r>
            <a:r>
              <a:rPr sz="1200" b="0" i="0">
                <a:solidFill>
                  <a:srgbClr val="EAF0F8"/>
                </a:solidFill>
                <a:latin typeface="微软雅黑"/>
                <a:ea typeface="微软雅黑"/>
              </a:rPr>
              <a:t>投入产出比最高、却最常被低估的是「上下文与记忆层」和「治理与评测层」。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57200"/>
            <a:ext cx="64008" cy="2926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3891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 spc="120">
                <a:solidFill>
                  <a:srgbClr val="22D3EE"/>
                </a:solidFill>
                <a:latin typeface="微软雅黑"/>
                <a:ea typeface="微软雅黑"/>
              </a:rPr>
              <a:t>TREND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EAF0F8"/>
                </a:solidFill>
                <a:latin typeface="微软雅黑"/>
                <a:ea typeface="微软雅黑"/>
              </a:rPr>
              <a:t>上下文工程：真正的能力天花板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463040"/>
            <a:ext cx="10817352" cy="0"/>
          </a:xfrm>
          <a:prstGeom prst="line">
            <a:avLst/>
          </a:prstGeom>
          <a:ln w="12700">
            <a:solidFill>
              <a:srgbClr val="273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C7F99"/>
                </a:solidFill>
                <a:latin typeface="微软雅黑"/>
                <a:ea typeface="微软雅黑"/>
              </a:rPr>
              <a:t>Agent 发展趋势  ·  技术 / 生态 / 落地观察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97312" y="638251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C7F99"/>
                </a:solidFill>
                <a:latin typeface="微软雅黑"/>
                <a:ea typeface="微软雅黑"/>
              </a:rPr>
              <a:t>06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19072"/>
            <a:ext cx="5358384" cy="4133087"/>
          </a:xfrm>
          <a:prstGeom prst="roundRect">
            <a:avLst>
              <a:gd name="adj" fmla="val 7000"/>
            </a:avLst>
          </a:prstGeom>
          <a:solidFill>
            <a:srgbClr val="131E33"/>
          </a:solidFill>
          <a:ln w="9525">
            <a:solidFill>
              <a:srgbClr val="273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19072"/>
            <a:ext cx="5358384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9202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AF0F8"/>
                </a:solidFill>
                <a:latin typeface="微软雅黑"/>
                <a:ea typeface="微软雅黑"/>
              </a:rPr>
              <a:t>为什么提示词工程不够用了</a:t>
            </a:r>
          </a:p>
        </p:txBody>
      </p:sp>
      <p:sp>
        <p:nvSpPr>
          <p:cNvPr id="11" name="Oval 10"/>
          <p:cNvSpPr/>
          <p:nvPr/>
        </p:nvSpPr>
        <p:spPr>
          <a:xfrm>
            <a:off x="969264" y="2514600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2432304"/>
            <a:ext cx="4617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2D3EE"/>
                </a:solidFill>
                <a:latin typeface="微软雅黑"/>
                <a:ea typeface="微软雅黑"/>
              </a:rPr>
              <a:t>胜负手转移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2715768"/>
            <a:ext cx="46177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4BC"/>
                </a:solidFill>
                <a:latin typeface="微软雅黑"/>
                <a:ea typeface="微软雅黑"/>
              </a:rPr>
              <a:t>模型每一步"能看到什么"，比你怎么措辞更重要——同一模型换上下文策略，任务成功率可以差出量级。</a:t>
            </a:r>
          </a:p>
        </p:txBody>
      </p:sp>
      <p:sp>
        <p:nvSpPr>
          <p:cNvPr id="14" name="Oval 13"/>
          <p:cNvSpPr/>
          <p:nvPr/>
        </p:nvSpPr>
        <p:spPr>
          <a:xfrm>
            <a:off x="969264" y="3355848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07008" y="3273552"/>
            <a:ext cx="4617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2D3EE"/>
                </a:solidFill>
                <a:latin typeface="微软雅黑"/>
                <a:ea typeface="微软雅黑"/>
              </a:rPr>
              <a:t>长上下文 ≠ 有效上下文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3557016"/>
            <a:ext cx="46177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4BC"/>
                </a:solidFill>
                <a:latin typeface="微软雅黑"/>
                <a:ea typeface="微软雅黑"/>
              </a:rPr>
              <a:t>窗口再大也要管预算：噪声会稀释注意力，关键信息的位置与密度比总量更关键。</a:t>
            </a:r>
          </a:p>
        </p:txBody>
      </p:sp>
      <p:sp>
        <p:nvSpPr>
          <p:cNvPr id="17" name="Oval 16"/>
          <p:cNvSpPr/>
          <p:nvPr/>
        </p:nvSpPr>
        <p:spPr>
          <a:xfrm>
            <a:off x="969264" y="4197096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4114800"/>
            <a:ext cx="4617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2D3EE"/>
                </a:solidFill>
                <a:latin typeface="微软雅黑"/>
                <a:ea typeface="微软雅黑"/>
              </a:rPr>
              <a:t>四大构件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4398264"/>
            <a:ext cx="46177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4BC"/>
                </a:solidFill>
                <a:latin typeface="微软雅黑"/>
                <a:ea typeface="微软雅黑"/>
              </a:rPr>
              <a:t>系统指令 · 工具定义 · 检索证据 · 记忆与历史压缩，四者共同构成"工作现场"。</a:t>
            </a:r>
          </a:p>
        </p:txBody>
      </p:sp>
      <p:sp>
        <p:nvSpPr>
          <p:cNvPr id="20" name="Oval 19"/>
          <p:cNvSpPr/>
          <p:nvPr/>
        </p:nvSpPr>
        <p:spPr>
          <a:xfrm>
            <a:off x="969264" y="5038344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07008" y="4956048"/>
            <a:ext cx="4617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2D3EE"/>
                </a:solidFill>
                <a:latin typeface="微软雅黑"/>
                <a:ea typeface="微软雅黑"/>
              </a:rPr>
              <a:t>可观测是前提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5239512"/>
            <a:ext cx="461772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4BC"/>
                </a:solidFill>
                <a:latin typeface="微软雅黑"/>
                <a:ea typeface="微软雅黑"/>
              </a:rPr>
              <a:t>上下文快照、加载来源与命中率必须可追溯，否则问题无法定位、效果无法归因。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82512" y="1719072"/>
            <a:ext cx="5120640" cy="4133087"/>
          </a:xfrm>
          <a:prstGeom prst="roundRect">
            <a:avLst>
              <a:gd name="adj" fmla="val 7000"/>
            </a:avLst>
          </a:prstGeom>
          <a:solidFill>
            <a:srgbClr val="131E33"/>
          </a:solidFill>
          <a:ln w="9525">
            <a:solidFill>
              <a:srgbClr val="273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82512" y="1719072"/>
            <a:ext cx="5120640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56832" y="19202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AF0F8"/>
                </a:solidFill>
                <a:latin typeface="微软雅黑"/>
                <a:ea typeface="微软雅黑"/>
              </a:rPr>
              <a:t>一次模型调用的上下文构成（示意）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56832" y="2505456"/>
            <a:ext cx="1554480" cy="8046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11312" y="2505456"/>
            <a:ext cx="1188720" cy="80467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400032" y="2505456"/>
            <a:ext cx="1097280" cy="80467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497312" y="2505456"/>
            <a:ext cx="731520" cy="8046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56832" y="33832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C7F99"/>
                </a:solidFill>
                <a:latin typeface="微软雅黑"/>
                <a:ea typeface="微软雅黑"/>
              </a:rPr>
              <a:t>"预算分配"比"塞满窗口"更重要：每一段都应回答"此刻真的需要它吗"。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56832" y="3849624"/>
            <a:ext cx="146304" cy="1463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12864" y="3803904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AF0F8"/>
                </a:solidFill>
                <a:latin typeface="微软雅黑"/>
                <a:ea typeface="微软雅黑"/>
              </a:rPr>
              <a:t>系统指令与工具定义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56064" y="3803904"/>
            <a:ext cx="15727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B5CF6"/>
                </a:solidFill>
                <a:latin typeface="微软雅黑"/>
                <a:ea typeface="微软雅黑"/>
              </a:rPr>
              <a:t>34%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56832" y="4306824"/>
            <a:ext cx="146304" cy="1463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12864" y="4261104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AF0F8"/>
                </a:solidFill>
                <a:latin typeface="微软雅黑"/>
                <a:ea typeface="微软雅黑"/>
              </a:rPr>
              <a:t>检索证据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56064" y="4261104"/>
            <a:ext cx="15727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2D3EE"/>
                </a:solidFill>
                <a:latin typeface="微软雅黑"/>
                <a:ea typeface="微软雅黑"/>
              </a:rPr>
              <a:t>26%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56832" y="4764024"/>
            <a:ext cx="146304" cy="14630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12864" y="4718304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AF0F8"/>
                </a:solidFill>
                <a:latin typeface="微软雅黑"/>
                <a:ea typeface="微软雅黑"/>
              </a:rPr>
              <a:t>记忆与历史压缩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56064" y="4718304"/>
            <a:ext cx="15727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4D399"/>
                </a:solidFill>
                <a:latin typeface="微软雅黑"/>
                <a:ea typeface="微软雅黑"/>
              </a:rPr>
              <a:t>24%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56832" y="5221224"/>
            <a:ext cx="146304" cy="1463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12864" y="5175504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AF0F8"/>
                </a:solidFill>
                <a:latin typeface="微软雅黑"/>
                <a:ea typeface="微软雅黑"/>
              </a:rPr>
              <a:t>对话与中间结果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56064" y="5175504"/>
            <a:ext cx="15727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9E0B"/>
                </a:solidFill>
                <a:latin typeface="微软雅黑"/>
                <a:ea typeface="微软雅黑"/>
              </a:rPr>
              <a:t>16%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56832" y="5138928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B5CF6"/>
                </a:solidFill>
                <a:latin typeface="微软雅黑"/>
                <a:ea typeface="微软雅黑"/>
              </a:rPr>
              <a:t>关键动作：把上下文当作产品来做——分层、按需加载、可度量。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57200"/>
            <a:ext cx="64008" cy="2926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3891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 spc="120">
                <a:solidFill>
                  <a:srgbClr val="22D3EE"/>
                </a:solidFill>
                <a:latin typeface="微软雅黑"/>
                <a:ea typeface="微软雅黑"/>
              </a:rPr>
              <a:t>TREND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EAF0F8"/>
                </a:solidFill>
                <a:latin typeface="微软雅黑"/>
                <a:ea typeface="微软雅黑"/>
              </a:rPr>
              <a:t>生态收敛：把「接工具」变成标准插拔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463040"/>
            <a:ext cx="10817352" cy="0"/>
          </a:xfrm>
          <a:prstGeom prst="line">
            <a:avLst/>
          </a:prstGeom>
          <a:ln w="12700">
            <a:solidFill>
              <a:srgbClr val="273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C7F99"/>
                </a:solidFill>
                <a:latin typeface="微软雅黑"/>
                <a:ea typeface="微软雅黑"/>
              </a:rPr>
              <a:t>Agent 发展趋势  ·  技术 / 生态 / 落地观察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97312" y="638251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C7F99"/>
                </a:solidFill>
                <a:latin typeface="微软雅黑"/>
                <a:ea typeface="微软雅黑"/>
              </a:rPr>
              <a:t>07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95728" y="2706624"/>
            <a:ext cx="2377440" cy="1060704"/>
          </a:xfrm>
          <a:prstGeom prst="roundRect">
            <a:avLst>
              <a:gd name="adj" fmla="val 7000"/>
            </a:avLst>
          </a:prstGeom>
          <a:solidFill>
            <a:srgbClr val="1B2A44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95728" y="2926080"/>
            <a:ext cx="23774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EAF0F8"/>
                </a:solidFill>
                <a:latin typeface="微软雅黑"/>
                <a:ea typeface="微软雅黑"/>
              </a:rPr>
              <a:t>Agent 运行时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3A4BC"/>
                </a:solidFill>
                <a:latin typeface="微软雅黑"/>
                <a:ea typeface="微软雅黑"/>
              </a:rPr>
              <a:t>规划 · 记忆 · 调度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15184" y="1810512"/>
            <a:ext cx="1938528" cy="493776"/>
          </a:xfrm>
          <a:prstGeom prst="roundRect">
            <a:avLst>
              <a:gd name="adj" fmla="val 7000"/>
            </a:avLst>
          </a:prstGeom>
          <a:solidFill>
            <a:srgbClr val="131E33"/>
          </a:solidFill>
          <a:ln w="9525">
            <a:solidFill>
              <a:srgbClr val="273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1929384"/>
            <a:ext cx="17556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AF0F8"/>
                </a:solidFill>
                <a:latin typeface="微软雅黑"/>
                <a:ea typeface="微软雅黑"/>
              </a:rPr>
              <a:t>文件与终端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3584448" y="2350008"/>
            <a:ext cx="0" cy="310896"/>
          </a:xfrm>
          <a:prstGeom prst="line">
            <a:avLst/>
          </a:prstGeom>
          <a:ln w="15875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" y="2395728"/>
            <a:ext cx="1938528" cy="493776"/>
          </a:xfrm>
          <a:prstGeom prst="roundRect">
            <a:avLst>
              <a:gd name="adj" fmla="val 7000"/>
            </a:avLst>
          </a:prstGeom>
          <a:solidFill>
            <a:srgbClr val="131E33"/>
          </a:solidFill>
          <a:ln w="9525">
            <a:solidFill>
              <a:srgbClr val="273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514600"/>
            <a:ext cx="17556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AF0F8"/>
                </a:solidFill>
                <a:latin typeface="微软雅黑"/>
                <a:ea typeface="微软雅黑"/>
              </a:rPr>
              <a:t>MCP 工具服务器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39229" y="2866631"/>
            <a:ext cx="27226" cy="8805"/>
          </a:xfrm>
          <a:prstGeom prst="line">
            <a:avLst/>
          </a:prstGeom>
          <a:ln w="15875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453128" y="2395728"/>
            <a:ext cx="1938528" cy="493776"/>
          </a:xfrm>
          <a:prstGeom prst="roundRect">
            <a:avLst>
              <a:gd name="adj" fmla="val 7000"/>
            </a:avLst>
          </a:prstGeom>
          <a:solidFill>
            <a:srgbClr val="131E33"/>
          </a:solidFill>
          <a:ln w="9525">
            <a:solidFill>
              <a:srgbClr val="273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2514600"/>
            <a:ext cx="17556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AF0F8"/>
                </a:solidFill>
                <a:latin typeface="微软雅黑"/>
                <a:ea typeface="微软雅黑"/>
              </a:rPr>
              <a:t>浏览器 / GUI 操作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4702440" y="2866631"/>
            <a:ext cx="27226" cy="8805"/>
          </a:xfrm>
          <a:prstGeom prst="line">
            <a:avLst/>
          </a:prstGeom>
          <a:ln w="15875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" y="4315968"/>
            <a:ext cx="1938528" cy="493776"/>
          </a:xfrm>
          <a:prstGeom prst="roundRect">
            <a:avLst>
              <a:gd name="adj" fmla="val 7000"/>
            </a:avLst>
          </a:prstGeom>
          <a:solidFill>
            <a:srgbClr val="131E33"/>
          </a:solidFill>
          <a:ln w="9525">
            <a:solidFill>
              <a:srgbClr val="273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434840"/>
            <a:ext cx="17556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AF0F8"/>
                </a:solidFill>
                <a:latin typeface="微软雅黑"/>
                <a:ea typeface="微软雅黑"/>
              </a:rPr>
              <a:t>企业系统 API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2125820" y="3794076"/>
            <a:ext cx="686371" cy="495143"/>
          </a:xfrm>
          <a:prstGeom prst="line">
            <a:avLst/>
          </a:prstGeom>
          <a:ln w="15875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453128" y="4315968"/>
            <a:ext cx="1938528" cy="493776"/>
          </a:xfrm>
          <a:prstGeom prst="roundRect">
            <a:avLst>
              <a:gd name="adj" fmla="val 7000"/>
            </a:avLst>
          </a:prstGeom>
          <a:solidFill>
            <a:srgbClr val="131E33"/>
          </a:solidFill>
          <a:ln w="9525">
            <a:solidFill>
              <a:srgbClr val="273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44568" y="4434840"/>
            <a:ext cx="17556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AF0F8"/>
                </a:solidFill>
                <a:latin typeface="微软雅黑"/>
                <a:ea typeface="微软雅黑"/>
              </a:rPr>
              <a:t>其他 Agent（A2A）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356704" y="3794076"/>
            <a:ext cx="686371" cy="495143"/>
          </a:xfrm>
          <a:prstGeom prst="line">
            <a:avLst/>
          </a:prstGeom>
          <a:ln w="15875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615184" y="4882896"/>
            <a:ext cx="1938528" cy="493776"/>
          </a:xfrm>
          <a:prstGeom prst="roundRect">
            <a:avLst>
              <a:gd name="adj" fmla="val 7000"/>
            </a:avLst>
          </a:prstGeom>
          <a:solidFill>
            <a:srgbClr val="131E33"/>
          </a:solidFill>
          <a:ln w="9525">
            <a:solidFill>
              <a:srgbClr val="273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06624" y="5001768"/>
            <a:ext cx="17556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AF0F8"/>
                </a:solidFill>
                <a:latin typeface="微软雅黑"/>
                <a:ea typeface="微软雅黑"/>
              </a:rPr>
              <a:t>数据与向量库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584448" y="3813048"/>
            <a:ext cx="0" cy="1024128"/>
          </a:xfrm>
          <a:prstGeom prst="line">
            <a:avLst/>
          </a:prstGeom>
          <a:ln w="15875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492240" y="1719072"/>
            <a:ext cx="5010912" cy="4133087"/>
          </a:xfrm>
          <a:prstGeom prst="roundRect">
            <a:avLst>
              <a:gd name="adj" fmla="val 7000"/>
            </a:avLst>
          </a:prstGeom>
          <a:solidFill>
            <a:srgbClr val="131E33"/>
          </a:solidFill>
          <a:ln w="9525">
            <a:solidFill>
              <a:srgbClr val="273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92240" y="1719072"/>
            <a:ext cx="5010912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66560" y="1993392"/>
            <a:ext cx="50292" cy="8595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04304" y="1938528"/>
            <a:ext cx="4297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AF0F8"/>
                </a:solidFill>
                <a:latin typeface="微软雅黑"/>
                <a:ea typeface="微软雅黑"/>
              </a:rPr>
              <a:t>MCP：工具接入的标准插座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04304" y="2286000"/>
            <a:ext cx="42976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4BC"/>
                </a:solidFill>
                <a:latin typeface="微软雅黑"/>
                <a:ea typeface="微软雅黑"/>
              </a:rPr>
              <a:t>把"每家模型各自的插件格式"统一为可复用的工具服务器；接入成本从定制开发降为配置，工具生态得以商品化。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66560" y="3273552"/>
            <a:ext cx="50292" cy="85953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04304" y="3218688"/>
            <a:ext cx="4297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AF0F8"/>
                </a:solidFill>
                <a:latin typeface="微软雅黑"/>
                <a:ea typeface="微软雅黑"/>
              </a:rPr>
              <a:t>A2A 类协议：智能体之间互操作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04304" y="3566160"/>
            <a:ext cx="42976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4BC"/>
                </a:solidFill>
                <a:latin typeface="微软雅黑"/>
                <a:ea typeface="微软雅黑"/>
              </a:rPr>
              <a:t>解决任务委托、能力发现与身份认证，让不同厂商的 Agent 能在同一流程里协作。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66560" y="4553712"/>
            <a:ext cx="50292" cy="8595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04304" y="4498848"/>
            <a:ext cx="4297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AF0F8"/>
                </a:solidFill>
                <a:latin typeface="微软雅黑"/>
                <a:ea typeface="微软雅黑"/>
              </a:rPr>
              <a:t>生态后果：差异化重新定位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04304" y="4846320"/>
            <a:ext cx="42976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4BC"/>
                </a:solidFill>
                <a:latin typeface="微软雅黑"/>
                <a:ea typeface="微软雅黑"/>
              </a:rPr>
              <a:t>当"接工具"不再是壁垒，竞争力回到领域知识、流程理解与可靠性工程。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5230368"/>
            <a:ext cx="4480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2D3EE"/>
                </a:solidFill>
                <a:latin typeface="微软雅黑"/>
                <a:ea typeface="微软雅黑"/>
              </a:rPr>
              <a:t>判断：</a:t>
            </a:r>
            <a:r>
              <a:rPr sz="1150" b="0" i="0">
                <a:solidFill>
                  <a:srgbClr val="EAF0F8"/>
                </a:solidFill>
                <a:latin typeface="微软雅黑"/>
                <a:ea typeface="微软雅黑"/>
              </a:rPr>
              <a:t>2026 年选型的第一原则是"协议优先"——凡是只能用私有插件方式接入的能力，都会成为锁定风险。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57200"/>
            <a:ext cx="64008" cy="2926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3891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 spc="120">
                <a:solidFill>
                  <a:srgbClr val="22D3EE"/>
                </a:solidFill>
                <a:latin typeface="微软雅黑"/>
                <a:ea typeface="微软雅黑"/>
              </a:rPr>
              <a:t>TREND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EAF0F8"/>
                </a:solidFill>
                <a:latin typeface="微软雅黑"/>
                <a:ea typeface="微软雅黑"/>
              </a:rPr>
              <a:t>从单体到编排：多智能体与生产化可靠性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463040"/>
            <a:ext cx="10817352" cy="0"/>
          </a:xfrm>
          <a:prstGeom prst="line">
            <a:avLst/>
          </a:prstGeom>
          <a:ln w="12700">
            <a:solidFill>
              <a:srgbClr val="273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C7F99"/>
                </a:solidFill>
                <a:latin typeface="微软雅黑"/>
                <a:ea typeface="微软雅黑"/>
              </a:rPr>
              <a:t>Agent 发展趋势  ·  技术 / 生态 / 落地观察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97312" y="638251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C7F99"/>
                </a:solidFill>
                <a:latin typeface="微软雅黑"/>
                <a:ea typeface="微软雅黑"/>
              </a:rPr>
              <a:t>08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19072"/>
            <a:ext cx="5715000" cy="4133087"/>
          </a:xfrm>
          <a:prstGeom prst="roundRect">
            <a:avLst>
              <a:gd name="adj" fmla="val 7000"/>
            </a:avLst>
          </a:prstGeom>
          <a:solidFill>
            <a:srgbClr val="131E33"/>
          </a:solidFill>
          <a:ln w="9525">
            <a:solidFill>
              <a:srgbClr val="273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19072"/>
            <a:ext cx="5715000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883664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AF0F8"/>
                </a:solidFill>
                <a:latin typeface="微软雅黑"/>
                <a:ea typeface="微软雅黑"/>
              </a:rPr>
              <a:t>编排模式：一个调度者 + 若干专职执行者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21408" y="2304288"/>
            <a:ext cx="2834640" cy="603504"/>
          </a:xfrm>
          <a:prstGeom prst="roundRect">
            <a:avLst>
              <a:gd name="adj" fmla="val 7000"/>
            </a:avLst>
          </a:prstGeom>
          <a:solidFill>
            <a:srgbClr val="1B2A44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21408" y="2459736"/>
            <a:ext cx="2834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AF0F8"/>
                </a:solidFill>
                <a:latin typeface="微软雅黑"/>
                <a:ea typeface="微软雅黑"/>
              </a:rPr>
              <a:t>编排者 / 规划者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" y="3310128"/>
            <a:ext cx="1517904" cy="786384"/>
          </a:xfrm>
          <a:prstGeom prst="roundRect">
            <a:avLst>
              <a:gd name="adj" fmla="val 7000"/>
            </a:avLst>
          </a:prstGeom>
          <a:solidFill>
            <a:srgbClr val="131E33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429000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AF0F8"/>
                </a:solidFill>
                <a:latin typeface="微软雅黑"/>
                <a:ea typeface="微软雅黑"/>
              </a:rPr>
              <a:t>研究 / 检索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2369549" y="2930805"/>
            <a:ext cx="611665" cy="356309"/>
          </a:xfrm>
          <a:prstGeom prst="line">
            <a:avLst/>
          </a:prstGeom>
          <a:ln w="15875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606040" y="3310128"/>
            <a:ext cx="1517904" cy="786384"/>
          </a:xfrm>
          <a:prstGeom prst="roundRect">
            <a:avLst>
              <a:gd name="adj" fmla="val 7000"/>
            </a:avLst>
          </a:prstGeom>
          <a:solidFill>
            <a:srgbClr val="131E33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06040" y="3429000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AF0F8"/>
                </a:solidFill>
                <a:latin typeface="微软雅黑"/>
                <a:ea typeface="微软雅黑"/>
              </a:rPr>
              <a:t>执行 / 编码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434397" y="2952949"/>
            <a:ext cx="49403" cy="312021"/>
          </a:xfrm>
          <a:prstGeom prst="line">
            <a:avLst/>
          </a:prstGeom>
          <a:ln w="15875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15968" y="3310128"/>
            <a:ext cx="1517904" cy="786384"/>
          </a:xfrm>
          <a:prstGeom prst="roundRect">
            <a:avLst>
              <a:gd name="adj" fmla="val 7000"/>
            </a:avLst>
          </a:prstGeom>
          <a:solidFill>
            <a:srgbClr val="131E33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15968" y="3429000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AF0F8"/>
                </a:solidFill>
                <a:latin typeface="微软雅黑"/>
                <a:ea typeface="微软雅黑"/>
              </a:rPr>
              <a:t>审核 / 校验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998384" y="2934366"/>
            <a:ext cx="488863" cy="349187"/>
          </a:xfrm>
          <a:prstGeom prst="line">
            <a:avLst/>
          </a:prstGeom>
          <a:ln w="15875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121408" y="4443984"/>
            <a:ext cx="2834640" cy="603504"/>
          </a:xfrm>
          <a:prstGeom prst="roundRect">
            <a:avLst>
              <a:gd name="adj" fmla="val 7000"/>
            </a:avLst>
          </a:prstGeom>
          <a:solidFill>
            <a:srgbClr val="131E33"/>
          </a:solidFill>
          <a:ln w="9525">
            <a:solidFill>
              <a:srgbClr val="273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21408" y="4599432"/>
            <a:ext cx="2834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AF0F8"/>
                </a:solidFill>
                <a:latin typeface="微软雅黑"/>
                <a:ea typeface="微软雅黑"/>
              </a:rPr>
              <a:t>汇总 · 交叉验证 · 交付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405571" y="4118649"/>
            <a:ext cx="547882" cy="303197"/>
          </a:xfrm>
          <a:prstGeom prst="line">
            <a:avLst/>
          </a:prstGeom>
          <a:ln w="13970">
            <a:solidFill>
              <a:srgbClr val="2235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38040" y="4141609"/>
            <a:ext cx="42879" cy="257277"/>
          </a:xfrm>
          <a:prstGeom prst="line">
            <a:avLst/>
          </a:prstGeom>
          <a:ln w="13970">
            <a:solidFill>
              <a:srgbClr val="2235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4021247" y="4122183"/>
            <a:ext cx="436399" cy="296129"/>
          </a:xfrm>
          <a:prstGeom prst="line">
            <a:avLst/>
          </a:prstGeom>
          <a:ln w="13970">
            <a:solidFill>
              <a:srgbClr val="2235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230368" y="2999232"/>
            <a:ext cx="0" cy="1097280"/>
          </a:xfrm>
          <a:prstGeom prst="line">
            <a:avLst/>
          </a:prstGeom>
          <a:ln w="15875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358384" y="3246120"/>
            <a:ext cx="1005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59E0B"/>
                </a:solidFill>
                <a:latin typeface="微软雅黑"/>
                <a:ea typeface="微软雅黑"/>
              </a:rPr>
              <a:t>失败
重规划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138928"/>
            <a:ext cx="521208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B5CF6"/>
                </a:solidFill>
                <a:latin typeface="微软雅黑"/>
                <a:ea typeface="微软雅黑"/>
              </a:rPr>
              <a:t>收益与代价：</a:t>
            </a:r>
            <a:r>
              <a:rPr sz="1100" b="0" i="0">
                <a:solidFill>
                  <a:srgbClr val="93A4BC"/>
                </a:solidFill>
                <a:latin typeface="微软雅黑"/>
                <a:ea typeface="微软雅黑"/>
              </a:rPr>
              <a:t>并行带来速度与隔离，但也引入上下文同步、冲突合并与成本放大——编排本身成为一门工程。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37960" y="1719072"/>
            <a:ext cx="4965192" cy="4133087"/>
          </a:xfrm>
          <a:prstGeom prst="roundRect">
            <a:avLst>
              <a:gd name="adj" fmla="val 7000"/>
            </a:avLst>
          </a:prstGeom>
          <a:solidFill>
            <a:srgbClr val="131E33"/>
          </a:solidFill>
          <a:ln w="9525">
            <a:solidFill>
              <a:srgbClr val="273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37960" y="1719072"/>
            <a:ext cx="4965192" cy="5029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12280" y="1920240"/>
            <a:ext cx="4389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AF0F8"/>
                </a:solidFill>
                <a:latin typeface="微软雅黑"/>
                <a:ea typeface="微软雅黑"/>
              </a:rPr>
              <a:t>生产化四问：决定能否规模化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12280" y="2395728"/>
            <a:ext cx="4416552" cy="749808"/>
          </a:xfrm>
          <a:prstGeom prst="roundRect">
            <a:avLst>
              <a:gd name="adj" fmla="val 7000"/>
            </a:avLst>
          </a:prstGeom>
          <a:solidFill>
            <a:srgbClr val="070C18"/>
          </a:solidFill>
          <a:ln w="9525">
            <a:solidFill>
              <a:srgbClr val="273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12280" y="2395728"/>
            <a:ext cx="50292" cy="7498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59168" y="2505456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2D3EE"/>
                </a:solidFill>
                <a:latin typeface="微软雅黑"/>
                <a:ea typeface="微软雅黑"/>
              </a:rPr>
              <a:t>可靠性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2532888"/>
            <a:ext cx="2788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4BC"/>
                </a:solidFill>
                <a:latin typeface="微软雅黑"/>
                <a:ea typeface="微软雅黑"/>
              </a:rPr>
              <a:t>失败能否被检测、回滚与重试？断点续跑是否可用？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12280" y="3255264"/>
            <a:ext cx="4416552" cy="749808"/>
          </a:xfrm>
          <a:prstGeom prst="roundRect">
            <a:avLst>
              <a:gd name="adj" fmla="val 7000"/>
            </a:avLst>
          </a:prstGeom>
          <a:solidFill>
            <a:srgbClr val="070C18"/>
          </a:solidFill>
          <a:ln w="9525">
            <a:solidFill>
              <a:srgbClr val="273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812280" y="3255264"/>
            <a:ext cx="50292" cy="74980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59168" y="3364992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8B5CF6"/>
                </a:solidFill>
                <a:latin typeface="微软雅黑"/>
                <a:ea typeface="微软雅黑"/>
              </a:rPr>
              <a:t>可观测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3392424"/>
            <a:ext cx="2788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4BC"/>
                </a:solidFill>
                <a:latin typeface="微软雅黑"/>
                <a:ea typeface="微软雅黑"/>
              </a:rPr>
              <a:t>每一步的工具调用、上下文与花费是否可追溯？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12280" y="4114800"/>
            <a:ext cx="4416552" cy="749808"/>
          </a:xfrm>
          <a:prstGeom prst="roundRect">
            <a:avLst>
              <a:gd name="adj" fmla="val 7000"/>
            </a:avLst>
          </a:prstGeom>
          <a:solidFill>
            <a:srgbClr val="070C18"/>
          </a:solidFill>
          <a:ln w="9525">
            <a:solidFill>
              <a:srgbClr val="273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812280" y="4114800"/>
            <a:ext cx="50292" cy="7498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59168" y="4224528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59E0B"/>
                </a:solidFill>
                <a:latin typeface="微软雅黑"/>
                <a:ea typeface="微软雅黑"/>
              </a:rPr>
              <a:t>可治理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20" y="4251960"/>
            <a:ext cx="2788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4BC"/>
                </a:solidFill>
                <a:latin typeface="微软雅黑"/>
                <a:ea typeface="微软雅黑"/>
              </a:rPr>
              <a:t>权限边界、高危操作确认、审计日志是否完备？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12280" y="4974336"/>
            <a:ext cx="4416552" cy="749808"/>
          </a:xfrm>
          <a:prstGeom prst="roundRect">
            <a:avLst>
              <a:gd name="adj" fmla="val 7000"/>
            </a:avLst>
          </a:prstGeom>
          <a:solidFill>
            <a:srgbClr val="070C18"/>
          </a:solidFill>
          <a:ln w="9525">
            <a:solidFill>
              <a:srgbClr val="273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812280" y="4974336"/>
            <a:ext cx="50292" cy="74980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59168" y="5084064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4D399"/>
                </a:solidFill>
                <a:latin typeface="微软雅黑"/>
                <a:ea typeface="微软雅黑"/>
              </a:rPr>
              <a:t>可评测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20" y="5111496"/>
            <a:ext cx="2788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4BC"/>
                </a:solidFill>
                <a:latin typeface="微软雅黑"/>
                <a:ea typeface="微软雅黑"/>
              </a:rPr>
              <a:t>是否有任务级基准，而不是只看单轮问答的分数？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12280" y="5230368"/>
            <a:ext cx="4480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4D399"/>
                </a:solidFill>
                <a:latin typeface="微软雅黑"/>
                <a:ea typeface="微软雅黑"/>
              </a:rPr>
              <a:t>衡量口径：</a:t>
            </a:r>
            <a:r>
              <a:rPr sz="1100" b="0" i="0">
                <a:solidFill>
                  <a:srgbClr val="EAF0F8"/>
                </a:solidFill>
                <a:latin typeface="微软雅黑"/>
                <a:ea typeface="微软雅黑"/>
              </a:rPr>
              <a:t>用"任务闭环率 × 单任务成本 × 人工介入次数"替代"回答得像不像人"。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57200"/>
            <a:ext cx="64008" cy="2926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3891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 spc="120">
                <a:solidFill>
                  <a:srgbClr val="22D3EE"/>
                </a:solidFill>
                <a:latin typeface="微软雅黑"/>
                <a:ea typeface="微软雅黑"/>
              </a:rPr>
              <a:t>TREND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EAF0F8"/>
                </a:solidFill>
                <a:latin typeface="微软雅黑"/>
                <a:ea typeface="微软雅黑"/>
              </a:rPr>
              <a:t>落地选择：把 Agent 放在哪里最有价值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463040"/>
            <a:ext cx="10817352" cy="0"/>
          </a:xfrm>
          <a:prstGeom prst="line">
            <a:avLst/>
          </a:prstGeom>
          <a:ln w="12700">
            <a:solidFill>
              <a:srgbClr val="273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C7F99"/>
                </a:solidFill>
                <a:latin typeface="微软雅黑"/>
                <a:ea typeface="微软雅黑"/>
              </a:rPr>
              <a:t>Agent 发展趋势  ·  技术 / 生态 / 落地观察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97312" y="638251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C7F99"/>
                </a:solidFill>
                <a:latin typeface="微软雅黑"/>
                <a:ea typeface="微软雅黑"/>
              </a:rPr>
              <a:t>09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70432" y="1847088"/>
            <a:ext cx="2788920" cy="1783080"/>
          </a:xfrm>
          <a:prstGeom prst="roundRect">
            <a:avLst>
              <a:gd name="adj" fmla="val 7000"/>
            </a:avLst>
          </a:prstGeom>
          <a:solidFill>
            <a:srgbClr val="070C18"/>
          </a:solidFill>
          <a:ln w="9525">
            <a:solidFill>
              <a:srgbClr val="273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0432" y="1847088"/>
            <a:ext cx="278892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029968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2D3EE"/>
                </a:solidFill>
                <a:latin typeface="微软雅黑"/>
                <a:ea typeface="微软雅黑"/>
              </a:rPr>
              <a:t>优先落地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2322576"/>
            <a:ext cx="2423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F99"/>
                </a:solidFill>
                <a:latin typeface="微软雅黑"/>
                <a:ea typeface="微软雅黑"/>
              </a:rPr>
              <a:t>高价值 · 低难度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633472"/>
            <a:ext cx="2423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4BC"/>
                </a:solidFill>
                <a:latin typeface="微软雅黑"/>
                <a:ea typeface="微软雅黑"/>
              </a:rPr>
              <a:t>代码工程与重构 · 数据分析与报表
企业知识检索问答 · 文档与合同处理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59352" y="1847088"/>
            <a:ext cx="2788920" cy="1783080"/>
          </a:xfrm>
          <a:prstGeom prst="roundRect">
            <a:avLst>
              <a:gd name="adj" fmla="val 7000"/>
            </a:avLst>
          </a:prstGeom>
          <a:solidFill>
            <a:srgbClr val="070C18"/>
          </a:solidFill>
          <a:ln w="9525">
            <a:solidFill>
              <a:srgbClr val="273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59352" y="1847088"/>
            <a:ext cx="27889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42232" y="2029968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9E0B"/>
                </a:solidFill>
                <a:latin typeface="微软雅黑"/>
                <a:ea typeface="微软雅黑"/>
              </a:rPr>
              <a:t>重点攻坚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42232" y="2322576"/>
            <a:ext cx="2423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F99"/>
                </a:solidFill>
                <a:latin typeface="微软雅黑"/>
                <a:ea typeface="微软雅黑"/>
              </a:rPr>
              <a:t>高价值 · 高难度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42232" y="2633472"/>
            <a:ext cx="2423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4BC"/>
                </a:solidFill>
                <a:latin typeface="微软雅黑"/>
                <a:ea typeface="微软雅黑"/>
              </a:rPr>
              <a:t>端到端流程自动化 · 跨系统业务闭环
GUI / 计算机操作 · 长程多步任务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0432" y="3630168"/>
            <a:ext cx="2788920" cy="1783080"/>
          </a:xfrm>
          <a:prstGeom prst="roundRect">
            <a:avLst>
              <a:gd name="adj" fmla="val 7000"/>
            </a:avLst>
          </a:prstGeom>
          <a:solidFill>
            <a:srgbClr val="070C18"/>
          </a:solidFill>
          <a:ln w="9525">
            <a:solidFill>
              <a:srgbClr val="273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70432" y="3630168"/>
            <a:ext cx="2788920" cy="45720"/>
          </a:xfrm>
          <a:prstGeom prst="rect">
            <a:avLst/>
          </a:prstGeom>
          <a:solidFill>
            <a:srgbClr val="4D9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53312" y="3813048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D9AC4"/>
                </a:solidFill>
                <a:latin typeface="微软雅黑"/>
                <a:ea typeface="微软雅黑"/>
              </a:rPr>
              <a:t>标准化即可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105656"/>
            <a:ext cx="2423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F99"/>
                </a:solidFill>
                <a:latin typeface="微软雅黑"/>
                <a:ea typeface="微软雅黑"/>
              </a:rPr>
              <a:t>低价值 · 低难度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4416552"/>
            <a:ext cx="2423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4BC"/>
                </a:solidFill>
                <a:latin typeface="微软雅黑"/>
                <a:ea typeface="微软雅黑"/>
              </a:rPr>
              <a:t>格式转换 · 摘要与翻译
会议纪要 · 结构化字段抽取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59352" y="3630168"/>
            <a:ext cx="2788920" cy="1783080"/>
          </a:xfrm>
          <a:prstGeom prst="roundRect">
            <a:avLst>
              <a:gd name="adj" fmla="val 7000"/>
            </a:avLst>
          </a:prstGeom>
          <a:solidFill>
            <a:srgbClr val="070C18"/>
          </a:solidFill>
          <a:ln w="9525">
            <a:solidFill>
              <a:srgbClr val="273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59352" y="3630168"/>
            <a:ext cx="2788920" cy="45720"/>
          </a:xfrm>
          <a:prstGeom prst="rect">
            <a:avLst/>
          </a:prstGeom>
          <a:solidFill>
            <a:srgbClr val="6C7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42232" y="3813048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6C7F99"/>
                </a:solidFill>
                <a:latin typeface="微软雅黑"/>
                <a:ea typeface="微软雅黑"/>
              </a:rPr>
              <a:t>暂缓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42232" y="4105656"/>
            <a:ext cx="2423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7F99"/>
                </a:solidFill>
                <a:latin typeface="微软雅黑"/>
                <a:ea typeface="微软雅黑"/>
              </a:rPr>
              <a:t>低价值 · 高难度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42232" y="4416552"/>
            <a:ext cx="2423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4BC"/>
                </a:solidFill>
                <a:latin typeface="微软雅黑"/>
                <a:ea typeface="微软雅黑"/>
              </a:rPr>
              <a:t>开放域全自动决策
无人值守的高风险操作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959352" y="1719072"/>
            <a:ext cx="0" cy="3822192"/>
          </a:xfrm>
          <a:prstGeom prst="line">
            <a:avLst/>
          </a:prstGeom>
          <a:ln w="12700">
            <a:solidFill>
              <a:srgbClr val="223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42416" y="3630168"/>
            <a:ext cx="5833872" cy="0"/>
          </a:xfrm>
          <a:prstGeom prst="line">
            <a:avLst/>
          </a:prstGeom>
          <a:ln w="12700">
            <a:solidFill>
              <a:srgbClr val="2235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170432" y="5577840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C7F99"/>
                </a:solidFill>
                <a:latin typeface="微软雅黑"/>
                <a:ea typeface="微软雅黑"/>
              </a:rPr>
              <a:t>实现难度 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184708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C7F99"/>
                </a:solidFill>
                <a:latin typeface="微软雅黑"/>
                <a:ea typeface="微软雅黑"/>
              </a:rPr>
              <a:t>↑ 业务价值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78040" y="1719072"/>
            <a:ext cx="4325112" cy="4133087"/>
          </a:xfrm>
          <a:prstGeom prst="roundRect">
            <a:avLst>
              <a:gd name="adj" fmla="val 7000"/>
            </a:avLst>
          </a:prstGeom>
          <a:solidFill>
            <a:srgbClr val="131E33"/>
          </a:solidFill>
          <a:ln w="9525">
            <a:solidFill>
              <a:srgbClr val="273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178040" y="1719072"/>
            <a:ext cx="4325112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34072" y="1920240"/>
            <a:ext cx="3840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AF0F8"/>
                </a:solidFill>
                <a:latin typeface="微软雅黑"/>
                <a:ea typeface="微软雅黑"/>
              </a:rPr>
              <a:t>形态之争：入口在分散，能力在收敛</a:t>
            </a:r>
          </a:p>
        </p:txBody>
      </p:sp>
      <p:sp>
        <p:nvSpPr>
          <p:cNvPr id="35" name="Oval 34"/>
          <p:cNvSpPr/>
          <p:nvPr/>
        </p:nvSpPr>
        <p:spPr>
          <a:xfrm>
            <a:off x="7452360" y="2450592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0" y="23591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AF0F8"/>
                </a:solidFill>
                <a:latin typeface="微软雅黑"/>
                <a:ea typeface="微软雅黑"/>
              </a:rPr>
              <a:t>终端原生 CLI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2633472"/>
            <a:ext cx="3657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4BC"/>
                </a:solidFill>
                <a:latin typeface="微软雅黑"/>
                <a:ea typeface="微软雅黑"/>
              </a:rPr>
              <a:t>最贴近工程动作与脚本化，适合自动化流水线</a:t>
            </a:r>
          </a:p>
        </p:txBody>
      </p:sp>
      <p:sp>
        <p:nvSpPr>
          <p:cNvPr id="38" name="Oval 37"/>
          <p:cNvSpPr/>
          <p:nvPr/>
        </p:nvSpPr>
        <p:spPr>
          <a:xfrm>
            <a:off x="7452360" y="3200400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80960" y="3108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AF0F8"/>
                </a:solidFill>
                <a:latin typeface="微软雅黑"/>
                <a:ea typeface="微软雅黑"/>
              </a:rPr>
              <a:t>IDE 内嵌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3383279"/>
            <a:ext cx="3657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4BC"/>
                </a:solidFill>
                <a:latin typeface="微软雅黑"/>
                <a:ea typeface="微软雅黑"/>
              </a:rPr>
              <a:t>上下文天然充分，编码场景落地最快</a:t>
            </a:r>
          </a:p>
        </p:txBody>
      </p:sp>
      <p:sp>
        <p:nvSpPr>
          <p:cNvPr id="41" name="Oval 40"/>
          <p:cNvSpPr/>
          <p:nvPr/>
        </p:nvSpPr>
        <p:spPr>
          <a:xfrm>
            <a:off x="7452360" y="3950207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80960" y="385876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AF0F8"/>
                </a:solidFill>
                <a:latin typeface="微软雅黑"/>
                <a:ea typeface="微软雅黑"/>
              </a:rPr>
              <a:t>GUI / 计算机操作代理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60" y="4133087"/>
            <a:ext cx="3657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4BC"/>
                </a:solidFill>
                <a:latin typeface="微软雅黑"/>
                <a:ea typeface="微软雅黑"/>
              </a:rPr>
              <a:t>覆盖无 API 的存量系统，风险与成本最高</a:t>
            </a:r>
          </a:p>
        </p:txBody>
      </p:sp>
      <p:sp>
        <p:nvSpPr>
          <p:cNvPr id="44" name="Oval 43"/>
          <p:cNvSpPr/>
          <p:nvPr/>
        </p:nvSpPr>
        <p:spPr>
          <a:xfrm>
            <a:off x="7452360" y="4700016"/>
            <a:ext cx="91440" cy="9144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80960" y="46085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AF0F8"/>
                </a:solidFill>
                <a:latin typeface="微软雅黑"/>
                <a:ea typeface="微软雅黑"/>
              </a:rPr>
              <a:t>端侧小模型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80960" y="4882896"/>
            <a:ext cx="3657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4BC"/>
                </a:solidFill>
                <a:latin typeface="微软雅黑"/>
                <a:ea typeface="微软雅黑"/>
              </a:rPr>
              <a:t>低延迟、数据不出域，适合高频轻任务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34072" y="5175504"/>
            <a:ext cx="3840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微软雅黑"/>
                <a:ea typeface="微软雅黑"/>
              </a:rPr>
              <a:t>选型建议：</a:t>
            </a:r>
            <a:r>
              <a:rPr sz="1100" b="0" i="0">
                <a:solidFill>
                  <a:srgbClr val="EAF0F8"/>
                </a:solidFill>
                <a:latin typeface="微软雅黑"/>
                <a:ea typeface="微软雅黑"/>
              </a:rPr>
              <a:t>先选"高价值 · 低难度"象限里可验收的场景跑通闭环，再向攻坚象限扩张。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57200"/>
            <a:ext cx="64008" cy="2926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38912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 spc="120">
                <a:solidFill>
                  <a:srgbClr val="22D3EE"/>
                </a:solidFill>
                <a:latin typeface="微软雅黑"/>
                <a:ea typeface="微软雅黑"/>
              </a:rPr>
              <a:t>RISKS &amp;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EAF0F8"/>
                </a:solidFill>
                <a:latin typeface="微软雅黑"/>
                <a:ea typeface="微软雅黑"/>
              </a:rPr>
              <a:t>挑战与行动建议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463040"/>
            <a:ext cx="10817352" cy="0"/>
          </a:xfrm>
          <a:prstGeom prst="line">
            <a:avLst/>
          </a:prstGeom>
          <a:ln w="12700">
            <a:solidFill>
              <a:srgbClr val="273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C7F99"/>
                </a:solidFill>
                <a:latin typeface="微软雅黑"/>
                <a:ea typeface="微软雅黑"/>
              </a:rPr>
              <a:t>Agent 发展趋势  ·  技术 / 生态 / 落地观察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97312" y="638251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C7F99"/>
                </a:solidFill>
                <a:latin typeface="微软雅黑"/>
                <a:ea typeface="微软雅黑"/>
              </a:rPr>
              <a:t>10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3474720" cy="1316736"/>
          </a:xfrm>
          <a:prstGeom prst="roundRect">
            <a:avLst>
              <a:gd name="adj" fmla="val 7000"/>
            </a:avLst>
          </a:prstGeom>
          <a:solidFill>
            <a:srgbClr val="131E33"/>
          </a:solidFill>
          <a:ln w="9525">
            <a:solidFill>
              <a:srgbClr val="273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37360"/>
            <a:ext cx="3474720" cy="50292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938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72B6"/>
                </a:solidFill>
                <a:latin typeface="微软雅黑"/>
                <a:ea typeface="微软雅黑"/>
              </a:rPr>
              <a:t>安全与权限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304288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4BC"/>
                </a:solidFill>
                <a:latin typeface="微软雅黑"/>
                <a:ea typeface="微软雅黑"/>
              </a:rPr>
              <a:t>越权操作、提示注入、数据外泄与"过度自主"的连带影响。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737360"/>
            <a:ext cx="3474720" cy="1316736"/>
          </a:xfrm>
          <a:prstGeom prst="roundRect">
            <a:avLst>
              <a:gd name="adj" fmla="val 7000"/>
            </a:avLst>
          </a:prstGeom>
          <a:solidFill>
            <a:srgbClr val="131E33"/>
          </a:solidFill>
          <a:ln w="9525">
            <a:solidFill>
              <a:srgbClr val="273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737360"/>
            <a:ext cx="3474720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1938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9E0B"/>
                </a:solidFill>
                <a:latin typeface="微软雅黑"/>
                <a:ea typeface="微软雅黑"/>
              </a:rPr>
              <a:t>成本与延迟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2304288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4BC"/>
                </a:solidFill>
                <a:latin typeface="微软雅黑"/>
                <a:ea typeface="微软雅黑"/>
              </a:rPr>
              <a:t>长程任务的 token 放大、失败重试与多智能体冗余带来的账单失控。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5864" y="1737360"/>
            <a:ext cx="3474720" cy="1316736"/>
          </a:xfrm>
          <a:prstGeom prst="roundRect">
            <a:avLst>
              <a:gd name="adj" fmla="val 7000"/>
            </a:avLst>
          </a:prstGeom>
          <a:solidFill>
            <a:srgbClr val="131E33"/>
          </a:solidFill>
          <a:ln w="9525">
            <a:solidFill>
              <a:srgbClr val="273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5864" y="1737360"/>
            <a:ext cx="3474720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1938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B5CF6"/>
                </a:solidFill>
                <a:latin typeface="微软雅黑"/>
                <a:ea typeface="微软雅黑"/>
              </a:rPr>
              <a:t>可靠性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304288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3A4BC"/>
                </a:solidFill>
                <a:latin typeface="微软雅黑"/>
                <a:ea typeface="微软雅黑"/>
              </a:rPr>
              <a:t>幻觉与错误在多步链路上累积，结果不可复现、难以归因。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2004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2D3EE"/>
                </a:solidFill>
                <a:latin typeface="微软雅黑"/>
                <a:ea typeface="微软雅黑"/>
              </a:rPr>
              <a:t>三步行动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493008"/>
            <a:ext cx="3474720" cy="1298448"/>
          </a:xfrm>
          <a:prstGeom prst="roundRect">
            <a:avLst>
              <a:gd name="adj" fmla="val 7000"/>
            </a:avLst>
          </a:prstGeom>
          <a:solidFill>
            <a:srgbClr val="131E33"/>
          </a:solidFill>
          <a:ln w="9525">
            <a:solidFill>
              <a:srgbClr val="273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05256" y="3675887"/>
            <a:ext cx="365760" cy="36576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373989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A1020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0744" y="3685032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AF0F8"/>
                </a:solidFill>
                <a:latin typeface="微软雅黑"/>
                <a:ea typeface="微软雅黑"/>
              </a:rPr>
              <a:t>选场景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" y="4151376"/>
            <a:ext cx="30175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4BC"/>
                </a:solidFill>
                <a:latin typeface="微软雅黑"/>
                <a:ea typeface="微软雅黑"/>
              </a:rPr>
              <a:t>挑高频、可验收、低风险的流程先做闭环，用"人时节省"而不是"演示效果"验证价值。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70832" y="3493008"/>
            <a:ext cx="3474720" cy="1298448"/>
          </a:xfrm>
          <a:prstGeom prst="roundRect">
            <a:avLst>
              <a:gd name="adj" fmla="val 7000"/>
            </a:avLst>
          </a:prstGeom>
          <a:solidFill>
            <a:srgbClr val="131E33"/>
          </a:solidFill>
          <a:ln w="9525">
            <a:solidFill>
              <a:srgbClr val="273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90288" y="3675887"/>
            <a:ext cx="365760" cy="36576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0288" y="373989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A1020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65776" y="3685032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AF0F8"/>
                </a:solidFill>
                <a:latin typeface="微软雅黑"/>
                <a:ea typeface="微软雅黑"/>
              </a:rPr>
              <a:t>建基建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08576" y="4151376"/>
            <a:ext cx="30175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4BC"/>
                </a:solidFill>
                <a:latin typeface="微软雅黑"/>
                <a:ea typeface="微软雅黑"/>
              </a:rPr>
              <a:t>补齐任务级评测与可观测链路，把"演示可用"变成"生产可信"。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55864" y="3493008"/>
            <a:ext cx="3474720" cy="1298448"/>
          </a:xfrm>
          <a:prstGeom prst="roundRect">
            <a:avLst>
              <a:gd name="adj" fmla="val 7000"/>
            </a:avLst>
          </a:prstGeom>
          <a:solidFill>
            <a:srgbClr val="131E33"/>
          </a:solidFill>
          <a:ln w="9525">
            <a:solidFill>
              <a:srgbClr val="273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75320" y="3675887"/>
            <a:ext cx="365760" cy="36576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20" y="373989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A1020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50808" y="3685032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AF0F8"/>
                </a:solidFill>
                <a:latin typeface="微软雅黑"/>
                <a:ea typeface="微软雅黑"/>
              </a:rPr>
              <a:t>解耦依赖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93608" y="4151376"/>
            <a:ext cx="30175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4BC"/>
                </a:solidFill>
                <a:latin typeface="微软雅黑"/>
                <a:ea typeface="微软雅黑"/>
              </a:rPr>
              <a:t>用协议化方式（MCP 等）接入工具与模型，保留可替换性，避免被单一供应商锁定。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4992624"/>
            <a:ext cx="10817352" cy="1097280"/>
          </a:xfrm>
          <a:prstGeom prst="roundRect">
            <a:avLst>
              <a:gd name="adj" fmla="val 7000"/>
            </a:avLst>
          </a:prstGeom>
          <a:solidFill>
            <a:srgbClr val="1B2A44"/>
          </a:solidFill>
          <a:ln w="9525">
            <a:solidFill>
              <a:srgbClr val="2C42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85800" y="4992624"/>
            <a:ext cx="10817352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5230368"/>
            <a:ext cx="10149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2D3EE"/>
                </a:solidFill>
                <a:latin typeface="微软雅黑"/>
                <a:ea typeface="微软雅黑"/>
              </a:rPr>
              <a:t>结论：</a:t>
            </a:r>
            <a:r>
              <a:rPr sz="1400" b="1" i="0">
                <a:solidFill>
                  <a:srgbClr val="EAF0F8"/>
                </a:solidFill>
                <a:latin typeface="微软雅黑"/>
                <a:ea typeface="微软雅黑"/>
              </a:rPr>
              <a:t>能力已经不是瓶颈，信任与成本才是。谁先把「可信赖的自主」做成可交付的工程，谁就拿到 Agent 规模化的入场券。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发展趋势：从对话式助手到自主执行体</dc:title>
  <dc:subject>技术栈、生态协议与生产化落地</dc:subject>
  <dc:creator>CCAGENT</dc:creator>
  <cp:keywords>Agent, MCP, A2A, 上下文工程, 多智能体, 生产化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